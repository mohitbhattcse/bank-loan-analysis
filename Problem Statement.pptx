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3B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3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it Bhatt" userId="c5005419-6eb6-4308-984a-116d76d4a095" providerId="ADAL" clId="{4DADBABF-34B0-4472-8438-A32C26523718}"/>
    <pc:docChg chg="modSld">
      <pc:chgData name="Mohit Bhatt" userId="c5005419-6eb6-4308-984a-116d76d4a095" providerId="ADAL" clId="{4DADBABF-34B0-4472-8438-A32C26523718}" dt="2026-04-05T17:39:44.784" v="0" actId="1076"/>
      <pc:docMkLst>
        <pc:docMk/>
      </pc:docMkLst>
      <pc:sldChg chg="modSp mod">
        <pc:chgData name="Mohit Bhatt" userId="c5005419-6eb6-4308-984a-116d76d4a095" providerId="ADAL" clId="{4DADBABF-34B0-4472-8438-A32C26523718}" dt="2026-04-05T17:39:44.784" v="0" actId="1076"/>
        <pc:sldMkLst>
          <pc:docMk/>
          <pc:sldMk cId="2188389533" sldId="262"/>
        </pc:sldMkLst>
        <pc:spChg chg="mod">
          <ac:chgData name="Mohit Bhatt" userId="c5005419-6eb6-4308-984a-116d76d4a095" providerId="ADAL" clId="{4DADBABF-34B0-4472-8438-A32C26523718}" dt="2026-04-05T17:39:44.784" v="0" actId="1076"/>
          <ac:spMkLst>
            <pc:docMk/>
            <pc:sldMk cId="2188389533" sldId="262"/>
            <ac:spMk id="5" creationId="{1BC36B1B-46BC-47F8-6C86-7B04F62B2F7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CDBFA-3603-645A-9EB2-BF18E33B1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3B8327-55E4-1536-B4F6-FBD74A175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5BB0C-9460-BD86-EFB3-AB6659C26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C60DD-6F9A-8C55-2C9B-5C4E70AD6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434C2-C539-549B-C05C-B98518AC5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248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61F88-B833-1200-D3CF-EE837B082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8CB8E-71BD-E0B3-64CF-7417B33BC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AA232-E33E-8A21-389D-F57473CF3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C86FC-555E-1772-0A31-2E81D8C84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83072-3545-FC11-E0FE-8FC24CF2E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655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7C800-8FF8-1209-480E-6D31FB4B1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770BE-4704-DD13-E41C-FDF47C5AC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B303D-4232-4156-EED1-1723C75B0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DEFFC-4535-7746-363E-449CCC413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B1815-6E61-12F0-67C6-5391B7A7E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1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973CA-2221-B6BA-247A-67888D17E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66AE0-2950-2E07-2ADF-40ECF430F5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1802A0-C2B1-90B6-E2F4-4DA17A2E1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FC01AE-CCB7-63D9-CBBB-F645B0F4E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E62A61-4168-26CC-93B3-683820DDE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34E477-B40D-8D3E-6DC2-1AC9B036F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288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65982-7856-A120-897F-D70473069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D52EB-C6C9-14DB-C39F-05A13FAA7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9939C4-C3A8-5DC6-5A03-4E06E5BD6A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451D85-6826-075A-E2DD-716FBE57BE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A66085-DC5D-ED87-50D6-6609036B97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8002D5-A8B9-4663-693D-13244095A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5C1A38-7DB7-27B3-EE2B-0FA8A1EA1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C0E241-9EDE-42DD-B32D-8D7A25957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82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3C722-C2C3-AD81-3B33-252378421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7C2B20-69F1-93CB-4468-49A7AC79F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F5AEDF-21FC-20A9-A97C-010FF7361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A905B7-E5B8-FCA6-C612-AD126D9F0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290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5F24FB-A0D9-0867-6BDA-FAA10E8AF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8FC46-75DF-0D30-C8E5-88F2C5361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CC571C-B718-3EBF-2B95-85CEF876B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041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056D2-DEB1-30AE-51E1-EE91F66CA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EAE68-FA8B-41E2-E3FB-36A46A154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C4BCD-7C3D-22E6-24BE-7467A7592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3662B-AE05-9268-0E56-CD679C6B2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C6A849-17CD-A798-9990-6220B27F1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D7318-CA5C-54BF-3E83-9C376735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738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A8056-573E-5E0D-778E-4DE41CB98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A09817-F19E-6A4F-5FF8-2F3D3AAF11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E0419C-229C-2594-B804-6EA9008830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8213C-4F0F-7E55-13F1-BAAD40951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7548F3-EEE0-2CB0-0510-48D1CC2F1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F2A5B8-D47F-A235-0038-FCFC9CC90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694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C7D78-8517-28DA-A27A-D8FFDBD25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0457C4-E215-0637-C3AF-8C3D1FCBF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02C78-9EFE-DF28-A614-944782ADB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652D1-928F-44A9-D700-AA5F4C04F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3B83E-DE60-62A4-DDC6-0166638EF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247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2510F1-7BC3-31D7-0266-19EAE7F797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A19C68-55AF-AAF3-C65B-31A5C1D0E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AE636-CB51-D73D-DDB9-04342DEBA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BDAD9-6500-E41D-1CBB-7FC9126F6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68266-F247-C64C-3559-6A0C24440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88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916DC5-6480-E0BC-F1F7-D7E605F2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5A303-F574-AA86-3F6C-B592CDEE8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35D02-92E6-CE42-BFE8-8029C2A42A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89A56-B7BF-4EE2-A684-7373F14AFF3B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0A4AE-F6D4-1200-163D-1FE1D2E81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A569D-EF3A-0E41-7F3B-0EDD07E67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888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B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C8A8646-E31E-2030-CB1D-2CF063FDA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" y="0"/>
            <a:ext cx="121704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530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BRD</a:t>
            </a:r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71600"/>
            <a:ext cx="11835622" cy="4573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Performance Indicators (KPIs) Requirements:</a:t>
            </a:r>
            <a:endParaRPr lang="en-IN" sz="2400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800" b="1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Loan Applications:</a:t>
            </a:r>
            <a:r>
              <a:rPr lang="en-IN" sz="1800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need to calculate the total number of loan applications received during a specified period. Additionally, it is essential to monitor the Month-to-Date (MTD) Loan Applications.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Funded Amount: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Understanding the total amount of funds disbursed as loans is crucial. We also want to keep an eye on the MTD Total Funded Amount metric.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Amount Received: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Tracking the total amount received from borrowers is essential for assessing the bank's cash flow and loan repayment. We should analyse the Month-to-Date (MTD) Total Amount Receive.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Interest Rate: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the average interest rate across all loans which will provide insights into our lending portfolio's overall cost.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Debt-to-Income Ratio (DTI):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Evaluating the average DTI for our borrowers helps us gauge their financial health. We need to compute the average DTI for all loans.</a:t>
            </a:r>
          </a:p>
        </p:txBody>
      </p:sp>
    </p:spTree>
    <p:extLst>
      <p:ext uri="{BB962C8B-B14F-4D97-AF65-F5344CB8AC3E}">
        <p14:creationId xmlns:p14="http://schemas.microsoft.com/office/powerpoint/2010/main" val="2377672083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08552" y="1960338"/>
            <a:ext cx="4981575" cy="3235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v Bad Loan KPI’s</a:t>
            </a:r>
          </a:p>
          <a:p>
            <a:endParaRPr lang="en-IN" sz="1600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8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 Percentage</a:t>
            </a:r>
            <a:endParaRPr lang="en-IN" sz="32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Applications</a:t>
            </a:r>
            <a:endParaRPr lang="en-IN" sz="32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Funded Amount</a:t>
            </a:r>
            <a:endParaRPr lang="en-IN" sz="32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Total Received Amount</a:t>
            </a:r>
            <a:endParaRPr lang="en-IN" sz="32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C36B1B-46BC-47F8-6C86-7B04F62B2F7F}"/>
              </a:ext>
            </a:extLst>
          </p:cNvPr>
          <p:cNvSpPr txBox="1"/>
          <p:nvPr/>
        </p:nvSpPr>
        <p:spPr>
          <a:xfrm>
            <a:off x="7001874" y="2536647"/>
            <a:ext cx="5190126" cy="2497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 Percentage</a:t>
            </a:r>
            <a:endParaRPr lang="en-IN" sz="32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Applications</a:t>
            </a:r>
            <a:endParaRPr lang="en-IN" sz="32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Funded Amount</a:t>
            </a:r>
            <a:endParaRPr lang="en-IN" sz="32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Total Received Amount</a:t>
            </a:r>
            <a:endParaRPr lang="en-IN" sz="32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389533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BRD 2: OVERVIEW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5370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 Trends by Issue Date (Line/ Area Chart):  </a:t>
            </a:r>
            <a:r>
              <a:rPr lang="en-IN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</a:t>
            </a:r>
            <a:r>
              <a:rPr lang="en-IN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seasonality and long-term trends in lending activities</a:t>
            </a:r>
            <a:endParaRPr lang="en-IN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Regional Analysis by State (Bar Chart</a:t>
            </a: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):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identify regions with significant lending activity and assess regional disparities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Term Analysis (Donut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allow the client to understand the distribution of loans across various term lengths.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 Length Analysis (Bar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lending metrics are distributed among borrowers with different employment lengths, helping us assess the impact of employment history on loan applications.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Purpose Breakdown (Bar Chart): </a:t>
            </a:r>
            <a:r>
              <a:rPr lang="en-IN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ill provide a visual breakdown of loan metrics based on the stated purposes of loans, aiding in the understanding of the primary reasons borrowers seek financing.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Home Ownership Analysis (Tree/ Heat Map):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a hierarchical view of how home ownership impacts loan applications and disbursements.</a:t>
            </a:r>
            <a:endParaRPr lang="en-IN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b="1" i="1" u="sng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Metrics to be shown: 'Total Loan Applications,' 'Total Funded Amount,' and 'Total Amount Received'</a:t>
            </a:r>
          </a:p>
        </p:txBody>
      </p:sp>
    </p:spTree>
    <p:extLst>
      <p:ext uri="{BB962C8B-B14F-4D97-AF65-F5344CB8AC3E}">
        <p14:creationId xmlns:p14="http://schemas.microsoft.com/office/powerpoint/2010/main" val="1142964218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1155</TotalTime>
  <Words>393</Words>
  <Application>Microsoft Office PowerPoint</Application>
  <PresentationFormat>Widescreen</PresentationFormat>
  <Paragraphs>32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Lato Black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Mohit Bhatt</cp:lastModifiedBy>
  <cp:revision>16</cp:revision>
  <dcterms:created xsi:type="dcterms:W3CDTF">2023-10-07T01:44:58Z</dcterms:created>
  <dcterms:modified xsi:type="dcterms:W3CDTF">2026-04-05T17:39:53Z</dcterms:modified>
</cp:coreProperties>
</file>